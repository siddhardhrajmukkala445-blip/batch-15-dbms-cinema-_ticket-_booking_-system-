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0" r:id="rId11"/>
    <p:sldId id="276" r:id="rId12"/>
    <p:sldId id="277" r:id="rId13"/>
    <p:sldId id="278" r:id="rId14"/>
    <p:sldId id="279" r:id="rId15"/>
    <p:sldId id="280" r:id="rId16"/>
    <p:sldId id="295" r:id="rId17"/>
    <p:sldId id="298" r:id="rId18"/>
    <p:sldId id="299" r:id="rId19"/>
    <p:sldId id="297" r:id="rId20"/>
    <p:sldId id="300" r:id="rId21"/>
    <p:sldId id="301" r:id="rId22"/>
    <p:sldId id="302" r:id="rId23"/>
    <p:sldId id="303" r:id="rId24"/>
    <p:sldId id="291" r:id="rId25"/>
    <p:sldId id="292" r:id="rId26"/>
    <p:sldId id="293" r:id="rId27"/>
    <p:sldId id="286" r:id="rId28"/>
    <p:sldId id="287" r:id="rId29"/>
    <p:sldId id="288" r:id="rId30"/>
    <p:sldId id="289" r:id="rId31"/>
    <p:sldId id="266" r:id="rId32"/>
    <p:sldId id="26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C05D-E1F6-4B78-B7B9-7FF651F700B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73D1-E340-4F7D-AE45-4B5F62E2BA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C05D-E1F6-4B78-B7B9-7FF651F700B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73D1-E340-4F7D-AE45-4B5F62E2BA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C05D-E1F6-4B78-B7B9-7FF651F700B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73D1-E340-4F7D-AE45-4B5F62E2BA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C05D-E1F6-4B78-B7B9-7FF651F700B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73D1-E340-4F7D-AE45-4B5F62E2BA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C05D-E1F6-4B78-B7B9-7FF651F700B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73D1-E340-4F7D-AE45-4B5F62E2BA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C05D-E1F6-4B78-B7B9-7FF651F700B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73D1-E340-4F7D-AE45-4B5F62E2BA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C05D-E1F6-4B78-B7B9-7FF651F700B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73D1-E340-4F7D-AE45-4B5F62E2BA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C05D-E1F6-4B78-B7B9-7FF651F700B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73D1-E340-4F7D-AE45-4B5F62E2BA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C05D-E1F6-4B78-B7B9-7FF651F700B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73D1-E340-4F7D-AE45-4B5F62E2BA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C05D-E1F6-4B78-B7B9-7FF651F700B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73D1-E340-4F7D-AE45-4B5F62E2BA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C05D-E1F6-4B78-B7B9-7FF651F700B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373D1-E340-4F7D-AE45-4B5F62E2BA0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FC05D-E1F6-4B78-B7B9-7FF651F700B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0373D1-E340-4F7D-AE45-4B5F62E2BA0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 ?><Relationships xmlns="http://schemas.openxmlformats.org/package/2006/relationships"><Relationship Id="rId3" Target="../media/image3.jpeg" Type="http://schemas.openxmlformats.org/officeDocument/2006/relationships/image"/><Relationship Id="rId2" Target="../media/image2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3.xml.rels><?xml version="1.0" encoding="UTF-8" standalone="yes" ?><Relationships xmlns="http://schemas.openxmlformats.org/package/2006/relationships"><Relationship Id="rId3" Target="../media/image3.jpeg" Type="http://schemas.openxmlformats.org/officeDocument/2006/relationships/image"/><Relationship Id="rId2" Target="../media/image4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4.xml.rels><?xml version="1.0" encoding="UTF-8" standalone="yes" ?><Relationships xmlns="http://schemas.openxmlformats.org/package/2006/relationships"><Relationship Id="rId3" Target="../media/image3.jpeg" Type="http://schemas.openxmlformats.org/officeDocument/2006/relationships/image"/><Relationship Id="rId2" Target="../media/image5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5.xml.rels><?xml version="1.0" encoding="UTF-8" standalone="yes" ?><Relationships xmlns="http://schemas.openxmlformats.org/package/2006/relationships"><Relationship Id="rId2" Target="../media/image3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6.xml.rels><?xml version="1.0" encoding="UTF-8" standalone="yes" ?><Relationships xmlns="http://schemas.openxmlformats.org/package/2006/relationships"><Relationship Id="rId3" Target="../media/image6.jpeg" Type="http://schemas.openxmlformats.org/officeDocument/2006/relationships/image"/><Relationship Id="rId2" Target="../media/image3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7.xml.rels><?xml version="1.0" encoding="UTF-8" standalone="yes" ?><Relationships xmlns="http://schemas.openxmlformats.org/package/2006/relationships"><Relationship Id="rId2" Target="../media/image3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8.xml.rels><?xml version="1.0" encoding="UTF-8" standalone="yes" ?><Relationships xmlns="http://schemas.openxmlformats.org/package/2006/relationships"><Relationship Id="rId2" Target="../media/image3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 ?><Relationships xmlns="http://schemas.openxmlformats.org/package/2006/relationships"><Relationship Id="rId2" Target="../media/image3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1.xml.rels><?xml version="1.0" encoding="UTF-8" standalone="yes" ?><Relationships xmlns="http://schemas.openxmlformats.org/package/2006/relationships"><Relationship Id="rId3" Target="../media/image8.jpeg" Type="http://schemas.openxmlformats.org/officeDocument/2006/relationships/image"/><Relationship Id="rId2" Target="../media/image7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2.xml.rels><?xml version="1.0" encoding="UTF-8" standalone="yes" ?><Relationships xmlns="http://schemas.openxmlformats.org/package/2006/relationships"><Relationship Id="rId3" Target="../media/image10.jpeg" Type="http://schemas.openxmlformats.org/officeDocument/2006/relationships/image"/><Relationship Id="rId2" Target="../media/image9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3.xml.rels><?xml version="1.0" encoding="UTF-8" standalone="yes" ?><Relationships xmlns="http://schemas.openxmlformats.org/package/2006/relationships"><Relationship Id="rId3" Target="../media/image12.jpeg" Type="http://schemas.openxmlformats.org/officeDocument/2006/relationships/image"/><Relationship Id="rId2" Target="../media/image11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4.xml.rels><?xml version="1.0" encoding="UTF-8" standalone="yes" ?><Relationships xmlns="http://schemas.openxmlformats.org/package/2006/relationships"><Relationship Id="rId3" Target="../media/image14.jpeg" Type="http://schemas.openxmlformats.org/officeDocument/2006/relationships/image"/><Relationship Id="rId2" Target="../media/image13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5.xml.rels><?xml version="1.0" encoding="UTF-8" standalone="yes" ?><Relationships xmlns="http://schemas.openxmlformats.org/package/2006/relationships"><Relationship Id="rId2" Target="../media/image15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6.xml.rels><?xml version="1.0" encoding="UTF-8" standalone="yes" ?><Relationships xmlns="http://schemas.openxmlformats.org/package/2006/relationships"><Relationship Id="rId3" Target="../media/image3.jpeg" Type="http://schemas.openxmlformats.org/officeDocument/2006/relationships/image"/><Relationship Id="rId2" Target="../media/image16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7.xml.rels><?xml version="1.0" encoding="UTF-8" standalone="yes" ?><Relationships xmlns="http://schemas.openxmlformats.org/package/2006/relationships"><Relationship Id="rId3" Target="../media/image3.jpeg" Type="http://schemas.openxmlformats.org/officeDocument/2006/relationships/image"/><Relationship Id="rId2" Target="../media/image17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8.xml.rels><?xml version="1.0" encoding="UTF-8" standalone="yes" ?><Relationships xmlns="http://schemas.openxmlformats.org/package/2006/relationships"><Relationship Id="rId3" Target="../media/image3.jpeg" Type="http://schemas.openxmlformats.org/officeDocument/2006/relationships/image"/><Relationship Id="rId2" Target="../media/image18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9.xml.rels><?xml version="1.0" encoding="UTF-8" standalone="yes" ?><Relationships xmlns="http://schemas.openxmlformats.org/package/2006/relationships"><Relationship Id="rId3" Target="../media/image3.jpeg" Type="http://schemas.openxmlformats.org/officeDocument/2006/relationships/image"/><Relationship Id="rId2" Target="../media/image19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0.xml.rels><?xml version="1.0" encoding="UTF-8" standalone="yes" ?><Relationships xmlns="http://schemas.openxmlformats.org/package/2006/relationships"><Relationship Id="rId3" Target="../media/image3.jpeg" Type="http://schemas.openxmlformats.org/officeDocument/2006/relationships/image"/><Relationship Id="rId2" Target="../media/image20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1.xml.rels><?xml version="1.0" encoding="UTF-8" standalone="yes" ?><Relationships xmlns="http://schemas.openxmlformats.org/package/2006/relationships"><Relationship Id="rId3" Target="../media/image3.jpeg" Type="http://schemas.openxmlformats.org/officeDocument/2006/relationships/image"/><Relationship Id="rId2" Target="../media/image21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2.xml.rels><?xml version="1.0" encoding="UTF-8" standalone="yes" ?><Relationships xmlns="http://schemas.openxmlformats.org/package/2006/relationships"><Relationship Id="rId3" Target="../media/image3.jpeg" Type="http://schemas.openxmlformats.org/officeDocument/2006/relationships/image"/><Relationship Id="rId2" Target="../media/image22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3.xml.rels><?xml version="1.0" encoding="UTF-8" standalone="yes" ?><Relationships xmlns="http://schemas.openxmlformats.org/package/2006/relationships"><Relationship Id="rId3" Target="../media/image3.jpeg" Type="http://schemas.openxmlformats.org/officeDocument/2006/relationships/image"/><Relationship Id="rId2" Target="../media/image23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4.xml.rels><?xml version="1.0" encoding="UTF-8" standalone="yes" ?><Relationships xmlns="http://schemas.openxmlformats.org/package/2006/relationships"><Relationship Id="rId2" Target="../media/image24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5.xml.rels><?xml version="1.0" encoding="UTF-8" standalone="yes" ?><Relationships xmlns="http://schemas.openxmlformats.org/package/2006/relationships"><Relationship Id="rId2" Target="../media/image25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6.xml.rels><?xml version="1.0" encoding="UTF-8" standalone="yes" ?><Relationships xmlns="http://schemas.openxmlformats.org/package/2006/relationships"><Relationship Id="rId2" Target="../media/image26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7.xml.rels><?xml version="1.0" encoding="UTF-8" standalone="yes" ?><Relationships xmlns="http://schemas.openxmlformats.org/package/2006/relationships"><Relationship Id="rId3" Target="../media/image3.jpeg" Type="http://schemas.openxmlformats.org/officeDocument/2006/relationships/image"/><Relationship Id="rId2" Target="../media/image27.jpeg" Type="http://schemas.openxmlformats.org/officeDocument/2006/relationships/image"/><Relationship Id="rId1" Target="../slideLayouts/slideLayout7.xml" Type="http://schemas.openxmlformats.org/officeDocument/2006/relationships/slideLayout"/><Relationship Id="rId4" Target="../media/image28.jpeg" Type="http://schemas.openxmlformats.org/officeDocument/2006/relationships/image"/></Relationships>
</file>

<file path=ppt/slides/_rels/slide28.xml.rels><?xml version="1.0" encoding="UTF-8" standalone="yes" ?><Relationships xmlns="http://schemas.openxmlformats.org/package/2006/relationships"><Relationship Id="rId3" Target="../media/image3.jpeg" Type="http://schemas.openxmlformats.org/officeDocument/2006/relationships/image"/><Relationship Id="rId2" Target="../media/image29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9.xml.rels><?xml version="1.0" encoding="UTF-8" standalone="yes" ?><Relationships xmlns="http://schemas.openxmlformats.org/package/2006/relationships"><Relationship Id="rId3" Target="../media/image3.jpeg" Type="http://schemas.openxmlformats.org/officeDocument/2006/relationships/image"/><Relationship Id="rId2" Target="../media/image30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 ?><Relationships xmlns="http://schemas.openxmlformats.org/package/2006/relationships"><Relationship Id="rId2" Target="../media/image3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32.xml.rels><?xml version="1.0" encoding="UTF-8" standalone="yes" ?><Relationships xmlns="http://schemas.openxmlformats.org/package/2006/relationships"><Relationship Id="rId2" Target="../media/image3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4"/>
          <p:cNvSpPr txBox="1">
            <a:spLocks noGrp="1"/>
          </p:cNvSpPr>
          <p:nvPr>
            <p:ph type="ctrTitle"/>
          </p:nvPr>
        </p:nvSpPr>
        <p:spPr>
          <a:xfrm>
            <a:off x="1813450" y="1793493"/>
            <a:ext cx="9144000" cy="538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068" y="378540"/>
            <a:ext cx="7927219" cy="12216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99107" y="5020890"/>
            <a:ext cx="497268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b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Aditya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8225" y="2331910"/>
            <a:ext cx="3300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</a:t>
            </a:r>
          </a:p>
        </p:txBody>
      </p:sp>
      <p:sp>
        <p:nvSpPr>
          <p:cNvPr id="14" name="Subtitle 13"/>
          <p:cNvSpPr>
            <a:spLocks noGrp="1"/>
          </p:cNvSpPr>
          <p:nvPr>
            <p:ph type="subTitle" idx="1"/>
          </p:nvPr>
        </p:nvSpPr>
        <p:spPr>
          <a:xfrm>
            <a:off x="1602941" y="3051879"/>
            <a:ext cx="9144000" cy="1655762"/>
          </a:xfrm>
        </p:spPr>
        <p:txBody>
          <a:bodyPr>
            <a:normAutofit/>
          </a:bodyPr>
          <a:lstStyle/>
          <a:p>
            <a:r>
              <a:rPr lang="en-US" sz="4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Cinema ticket booking system</a:t>
            </a:r>
            <a:br>
              <a:rPr lang="en-US" sz="4400" b="1" i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503652" y="5980471"/>
            <a:ext cx="2364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: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K.Vydehi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madam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962275" y="3971925"/>
            <a:ext cx="7028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REVIEW-2       </a:t>
            </a:r>
            <a:r>
              <a:rPr lang="en-US"/>
              <a:t>                                                                </a:t>
            </a:r>
            <a:r>
              <a:rPr lang="en-US" b="1"/>
              <a:t>01-10-2026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/>
          <p:cNvSpPr/>
          <p:nvPr/>
        </p:nvSpPr>
        <p:spPr>
          <a:xfrm>
            <a:off x="3420776" y="231918"/>
            <a:ext cx="5486400" cy="795988"/>
          </a:xfrm>
          <a:prstGeom prst="roundRect">
            <a:avLst/>
          </a:prstGeom>
          <a:solidFill>
            <a:schemeClr val="accent4">
              <a:lumMod val="7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REAL WORLD PROBLEMS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86" y="1270770"/>
            <a:ext cx="785463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Real-World Problem Addressed :</a:t>
            </a:r>
          </a:p>
          <a:p>
            <a:pPr lvl="0"/>
            <a:r>
              <a:rPr lang="en-US"/>
              <a:t>1. Long queues: Manual ticket booking can require customers to wait at the theatre counter. </a:t>
            </a:r>
          </a:p>
          <a:p>
            <a:pPr lvl="0"/>
            <a:r>
              <a:rPr lang="en-US"/>
              <a:t>2. Seat availability issues: Customers may not have a convenient way to know which seats are available before booking. </a:t>
            </a:r>
          </a:p>
          <a:p>
            <a:pPr lvl="0"/>
            <a:r>
              <a:rPr lang="en-US"/>
              <a:t>3. Booking errors: Manual booking can lead to incorrect seat allocation or duplicate reservations. </a:t>
            </a:r>
          </a:p>
          <a:p>
            <a:pPr lvl="0"/>
            <a:r>
              <a:rPr lang="en-US"/>
              <a:t>4. Difficulty managing shows: Managing movies, show timings, screens, and seat availability manually can be time-consuming. </a:t>
            </a:r>
          </a:p>
          <a:p>
            <a:pPr lvl="0"/>
            <a:r>
              <a:rPr lang="en-US"/>
              <a:t>5. Payment and booking records: Maintaining customer booking and payment records manually can be difficult. </a:t>
            </a:r>
          </a:p>
          <a:p>
            <a:pPr lvl="0"/>
            <a:r>
              <a:rPr lang="en-US"/>
              <a:t>6. Cancellation management: Tracking cancelled tickets and updating seat availability can become complicated. </a:t>
            </a:r>
          </a:p>
          <a:p>
            <a:pPr lvl="0"/>
            <a:r>
              <a:rPr lang="en-US"/>
              <a:t>7. Data management: A centralized database makes it easier to store, update, search, and retrieve cinema and booking information. </a:t>
            </a:r>
          </a:p>
          <a:p>
            <a:pPr lvl="0"/>
            <a:r>
              <a:rPr lang="en-US"/>
              <a:t>Overall objective: The project provides a simple and organized system for customers to book tickets and for administrators to manage cinema operations efficiently. </a:t>
            </a:r>
          </a:p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064" y="1270770"/>
            <a:ext cx="3143250" cy="49329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21" y="250403"/>
            <a:ext cx="1992712" cy="7495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25764" y="322343"/>
            <a:ext cx="4130150" cy="677576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ITS NEED ~  A JUSTIFICATION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319" y="1570122"/>
            <a:ext cx="609490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Why the Project Is Needed :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by reducing the need for manual ticket booking.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Makes seat selection easier by showing available seats to customers.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Reduces booking errors such as duplicate or incorrect seat allocation.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Improves data management by storing customer, movie, show, and booking details in a database.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administration by making movie, show, seat, and booking management easier.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Provides quick access to records through database queries.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Improves customer convenience by allowing tickets to be booked and managed efficiently.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815" y="1570122"/>
            <a:ext cx="4397667" cy="455317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21" y="250403"/>
            <a:ext cx="1992712" cy="7495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77294" y="309185"/>
            <a:ext cx="3947051" cy="717048"/>
          </a:xfrm>
          <a:prstGeom prst="rect">
            <a:avLst/>
          </a:prstGeom>
          <a:solidFill>
            <a:schemeClr val="accent2"/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637" y="1427515"/>
            <a:ext cx="81111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 :</a:t>
            </a:r>
          </a:p>
          <a:p>
            <a:pPr lvl="0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1.To develop a simple and user-friendly cinema ticket booking system. </a:t>
            </a:r>
          </a:p>
          <a:p>
            <a:pPr lvl="0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2. To maintain customer details efficiently using a database. </a:t>
            </a:r>
          </a:p>
          <a:p>
            <a:pPr lvl="0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3. To manage movie information and available show timings. </a:t>
            </a:r>
          </a:p>
          <a:p>
            <a:pPr lvl="0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4. To provide easy seat selection and booking facilities. </a:t>
            </a:r>
          </a:p>
          <a:p>
            <a:pPr lvl="0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5. To maintain accurate booking and payment records. </a:t>
            </a:r>
          </a:p>
          <a:p>
            <a:pPr lvl="0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6. To reduce errors and duplicate seat reservations. </a:t>
            </a:r>
          </a:p>
          <a:p>
            <a:pPr lvl="0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7. To allow administrators to manage movies, shows, theatres, and bookings. </a:t>
            </a:r>
          </a:p>
          <a:p>
            <a:pPr lvl="0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8. To use SQL database operations for efficient storage, updating, searching, and retrieval of cinema-related information.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24152" y="1107456"/>
            <a:ext cx="3433450" cy="484437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32" y="249823"/>
            <a:ext cx="1992712" cy="7495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2871" y="1532771"/>
            <a:ext cx="8874545" cy="49859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&amp; End Users :-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 :</a:t>
            </a:r>
          </a:p>
          <a:p>
            <a:pPr lvl="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Registration/Login – Manage customer accounts. </a:t>
            </a:r>
          </a:p>
          <a:p>
            <a:pPr lvl="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Movie &amp; Show Management – Add, update, and view movies and show timings. </a:t>
            </a:r>
          </a:p>
          <a:p>
            <a:pPr lvl="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Seat Booking – View available seats and book seats. </a:t>
            </a:r>
          </a:p>
          <a:p>
            <a:pPr lvl="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Payment Management – Record ticket payments. </a:t>
            </a:r>
          </a:p>
          <a:p>
            <a:pPr lvl="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Booking Management – View and cancel bookings. 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 :</a:t>
            </a:r>
          </a:p>
          <a:p>
            <a:pPr lvl="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– Simple and user-friendly interface. </a:t>
            </a:r>
          </a:p>
          <a:p>
            <a:pPr lvl="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Secure – Protect customer and booking information. </a:t>
            </a:r>
          </a:p>
          <a:p>
            <a:pPr lvl="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Reliable – Prevent duplicate or incorrect bookings. </a:t>
            </a:r>
          </a:p>
          <a:p>
            <a:pPr lvl="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Fast – Quickly retrieve and update database records. 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End Users :</a:t>
            </a:r>
          </a:p>
          <a:p>
            <a:pPr lvl="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1. Customers – Search movies, select seats, and book tickets. </a:t>
            </a:r>
          </a:p>
          <a:p>
            <a:pPr lvl="0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2. Administrator – Manage movies, shows, seats, theatres, customers, and bookings.</a:t>
            </a:r>
          </a:p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341755" y="339249"/>
            <a:ext cx="4348334" cy="64093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REQUIREMENTS AND END USERS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67" y="339249"/>
            <a:ext cx="1992712" cy="7495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5" y="79489"/>
            <a:ext cx="1992712" cy="749516"/>
          </a:xfrm>
          <a:prstGeom prst="rect">
            <a:avLst/>
          </a:prstGeom>
        </p:spPr>
      </p:pic>
      <p:pic>
        <p:nvPicPr>
          <p:cNvPr id="2" name="Picture 1" descr="ChatGPT Image Sep 30, 2026, 01_30_52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" y="828675"/>
            <a:ext cx="12049125" cy="60293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305560" y="159"/>
            <a:ext cx="4348334" cy="64093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ER DIAGRAM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2058" y="888086"/>
          <a:ext cx="11235935" cy="529326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3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0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ENTITIES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ATTRIBUTES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customer_id </a:t>
                      </a:r>
                      <a:r>
                        <a:rPr lang="en-US" b="1"/>
                        <a:t>(PK)</a:t>
                      </a:r>
                      <a:r>
                        <a:rPr lang="en-US"/>
                        <a:t>, name, email, phone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booking_id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(PK)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booking_date, status, customer_id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(FK)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payment_id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(PK)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payment_date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amount,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payment_method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booking_id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(FK)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movie_id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(PK)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title, genre, duration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show_id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(PK)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show_date, show_time, price, movie_id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(FK)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screen_id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(FK)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1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screen_id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(PK)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screen_type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screen_number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theatre_id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(FK)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THEATRE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theatre_id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(PK)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name, 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43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BOOKING_DETAIL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detail_id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(PK)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quantity,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total_price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booking_id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(FK)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show_id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(FK)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seat_id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(FK)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0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seat_id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(PK)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seat_number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price,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seat_type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1604" y="6181347"/>
            <a:ext cx="60949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PK = Primary Key</a:t>
            </a:r>
            <a:br>
              <a:rPr lang="en-US"/>
            </a:br>
            <a:r>
              <a:rPr lang="en-US" b="1"/>
              <a:t>FK = Foreign Key</a:t>
            </a: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21833" y="98677"/>
            <a:ext cx="4130150" cy="6775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 AND RELATIONSHIP CARDINALITY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58" y="138570"/>
            <a:ext cx="1992712" cy="7495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/>
        </p:nvGraphicFramePr>
        <p:xfrm>
          <a:off x="0" y="1233805"/>
          <a:ext cx="12192000" cy="5624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3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Entities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Cardinality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Meaning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5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 → BOOKING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 : 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customer can make many bookings; each booking belongs to one customer.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5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BOOKING → 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 : 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booking has one payment; each payment is associated with one booking.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BOOKING → SHOW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 : 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Many bookings can be for the same show; each booking is for one show.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0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MOVIE → SHOW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 : 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movie can have many shows; each show is for one movie.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921833" y="98677"/>
            <a:ext cx="4130150" cy="6775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ENTITIES-CARDINALITY RELATIONS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38" y="26810"/>
            <a:ext cx="1992712" cy="7495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-1270" y="0"/>
          <a:ext cx="12193905" cy="68573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73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SHOW → SCREEN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 : 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Many shows can occur on the same screen; each show takes place on one screen.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SCREEN → THEATRE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 : 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theatre can have many screens; each screen belongs to one theatre.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9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SHOW → BOOKING_DETAIL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 : 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show can have many booking details; each booking detail belongs to one show.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5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BOOKING_DETAIL → SEAT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 : 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Many booking details can refer to a seat at different shows; each booking detail refers to one seat.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/>
        </p:nvGraphicFramePr>
        <p:xfrm>
          <a:off x="0" y="1024890"/>
          <a:ext cx="12193905" cy="5833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7218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Where used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218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KEY (PK)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9 tables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Uniquely identifies each record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218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FOREIGN KEY (FK)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SCREEN, SEAT, SHOW, BOOKING, BOOKING_DETAIL, PAYMENT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related tables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218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NULL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explicitly used in your current code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Prevents a column from having NULL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218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explicitly used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Prevents duplicate values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2185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explicitly used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Restricts values according to a condition</a:t>
                      </a: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921833" y="98677"/>
            <a:ext cx="4130150" cy="6775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 USED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38" y="26810"/>
            <a:ext cx="1992712" cy="7495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tGPT Image Sep 30, 2026, 02_10_49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630" y="0"/>
            <a:ext cx="12279630" cy="3328670"/>
          </a:xfrm>
          <a:prstGeom prst="rect">
            <a:avLst/>
          </a:prstGeom>
        </p:spPr>
      </p:pic>
      <p:pic>
        <p:nvPicPr>
          <p:cNvPr id="3" name="Picture 2" descr="ChatGPT Image Sep 30, 2026, 02_11_48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7630" y="3328670"/>
            <a:ext cx="12308840" cy="36239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tGPT Image Sep 30, 2026, 02_13_05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55" y="0"/>
            <a:ext cx="12238355" cy="3079115"/>
          </a:xfrm>
          <a:prstGeom prst="rect">
            <a:avLst/>
          </a:prstGeom>
        </p:spPr>
      </p:pic>
      <p:pic>
        <p:nvPicPr>
          <p:cNvPr id="4" name="Picture 3" descr="ChatGPT Image Sep 30, 2026, 02_16_20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355" y="3037205"/>
            <a:ext cx="12192000" cy="38785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tGPT Image Sep 30, 2026, 02_18_10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978785"/>
          </a:xfrm>
          <a:prstGeom prst="rect">
            <a:avLst/>
          </a:prstGeom>
        </p:spPr>
      </p:pic>
      <p:pic>
        <p:nvPicPr>
          <p:cNvPr id="4" name="Picture 3" descr="ChatGPT Image Sep 30, 2026, 02_20_50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8785"/>
            <a:ext cx="12191365" cy="38398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tGPT Image Sep 30, 2026, 02_22_54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65780"/>
          </a:xfrm>
          <a:prstGeom prst="rect">
            <a:avLst/>
          </a:prstGeom>
        </p:spPr>
      </p:pic>
      <p:pic>
        <p:nvPicPr>
          <p:cNvPr id="3" name="Picture 2" descr="ChatGPT Image Sep 30, 2026, 02_22_48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26715"/>
            <a:ext cx="12192000" cy="39312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tGPT Image Sep 30, 2026, 02_24_56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002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QL Queries and Results Infograph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0895"/>
            <a:ext cx="12192000" cy="566610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38" y="38240"/>
            <a:ext cx="1992712" cy="7495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DB4FBB1-5BF4-1B55-6AF2-B01F93CBF16E}"/>
              </a:ext>
            </a:extLst>
          </p:cNvPr>
          <p:cNvSpPr/>
          <p:nvPr/>
        </p:nvSpPr>
        <p:spPr>
          <a:xfrm>
            <a:off x="3921833" y="98677"/>
            <a:ext cx="4130150" cy="6775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QL Query Results Tutorial Pane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0740"/>
            <a:ext cx="12192000" cy="56362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38" y="26810"/>
            <a:ext cx="1992712" cy="7495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QL Query Results_ Average Duration and Confirmed Booking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4705"/>
            <a:ext cx="12192000" cy="5613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38" y="26810"/>
            <a:ext cx="1992712" cy="7495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QL Queries 7 and 8 Cheat Shee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520"/>
            <a:ext cx="12192000" cy="56299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38" y="26810"/>
            <a:ext cx="1992712" cy="7495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QL Queries and Theatre Screen Outpu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2005"/>
            <a:ext cx="12192000" cy="56254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38" y="26810"/>
            <a:ext cx="1992712" cy="7495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QL Queries 11 and 12 Resul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5810"/>
            <a:ext cx="12192000" cy="55854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38" y="26810"/>
            <a:ext cx="1992712" cy="7495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QL Queries_ Unpaid Customers and Empty Theatr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9630"/>
            <a:ext cx="12192000" cy="558355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38" y="26810"/>
            <a:ext cx="1992712" cy="7495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uery 15_ Customer Booking Tota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8515"/>
            <a:ext cx="12192000" cy="60394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38" y="26810"/>
            <a:ext cx="1992712" cy="74951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sertion Anomaly_ Before and After Normaliz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385"/>
            <a:ext cx="12192000" cy="679259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56210" y="3982085"/>
            <a:ext cx="5080000" cy="265049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Insertion Anomaly</a:t>
            </a:r>
          </a:p>
          <a:p>
            <a:pPr>
              <a:buFont typeface="Arial" panose="020B0604020202020204"/>
              <a:buChar char="•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Customer information cannot be added without booking-related data in an unnormalized table. </a:t>
            </a:r>
          </a:p>
          <a:p>
            <a:pPr>
              <a:buFont typeface="Arial" panose="020B0604020202020204"/>
              <a:buChar char="•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New customers without bookings cannot be stored independently. </a:t>
            </a:r>
          </a:p>
          <a:p>
            <a:pPr>
              <a:buFont typeface="Arial" panose="020B0604020202020204"/>
              <a:buChar char="•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Customer and booking data are mixed, creating unnecessary dependency. </a:t>
            </a:r>
          </a:p>
          <a:p>
            <a:pPr>
              <a:buFont typeface="Arial" panose="020B0604020202020204"/>
              <a:buChar char="•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separates CUSTOMER and BOOKING, allowing customers to be inserted independently.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pdate Anomaly_ Normalization Tab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385"/>
            <a:ext cx="12192000" cy="679259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2230" y="4885690"/>
            <a:ext cx="6033770" cy="1390015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>
              <a:spcAft>
                <a:spcPct val="60000"/>
              </a:spcAft>
              <a:buNone/>
            </a:pPr>
            <a:r>
              <a:rPr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Update Anomaly</a:t>
            </a:r>
            <a:br>
              <a:rPr sz="23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details may be repeated across multiple booking records. </a:t>
            </a:r>
          </a:p>
          <a:p>
            <a:pPr indent="0">
              <a:buFont typeface="Arial" panose="020B0604020202020204"/>
              <a:buNone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 Updating a customer's information requires multiple rows to be changed. </a:t>
            </a:r>
          </a:p>
          <a:p>
            <a:pPr indent="0">
              <a:buFont typeface="Arial" panose="020B0604020202020204"/>
              <a:buNone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 Missing one repeated record can cause inconsistent customer information. </a:t>
            </a:r>
          </a:p>
          <a:p>
            <a:pPr>
              <a:buFont typeface="Arial" panose="020B0604020202020204"/>
              <a:buChar char="•"/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letion Anomaly_ Before and After Normaliz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75"/>
            <a:ext cx="12192000" cy="680339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92075" y="4221480"/>
            <a:ext cx="6111875" cy="2404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Deletion Anomaly</a:t>
            </a:r>
          </a:p>
          <a:p>
            <a:pPr>
              <a:buFont typeface="Arial" panose="020B0604020202020204"/>
              <a:buChar char="•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 Deleting a booking may also remove the customer's information in an unnormalized table. </a:t>
            </a:r>
          </a:p>
          <a:p>
            <a:pPr>
              <a:buFont typeface="Arial" panose="020B0604020202020204"/>
              <a:buChar char="•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 A customer with only one booking is especially affected. </a:t>
            </a:r>
          </a:p>
          <a:p>
            <a:pPr>
              <a:buFont typeface="Arial" panose="020B0604020202020204"/>
              <a:buChar char="•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Booking information and customer information are unnecessarily dependent. </a:t>
            </a:r>
          </a:p>
          <a:p>
            <a:pPr>
              <a:buFont typeface="Arial" panose="020B0604020202020204"/>
              <a:buChar char="•"/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 Separate CUSTOMER and BOOKING tables allow a booking to be deleted without losing customer details.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NF Normalization_ Customer and Movie Tab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935"/>
            <a:ext cx="12192000" cy="60521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93" y="140"/>
            <a:ext cx="1992712" cy="7495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945" y="1843405"/>
            <a:ext cx="6281420" cy="50152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NF Normalization_ Before and Aft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935"/>
            <a:ext cx="12192000" cy="60445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93" y="140"/>
            <a:ext cx="1992712" cy="74951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3NF Normalization_ Before and After Tab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300"/>
            <a:ext cx="12192000" cy="60394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93" y="140"/>
            <a:ext cx="1992712" cy="74951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417195" y="1386205"/>
            <a:ext cx="10710545" cy="49688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buAutoNum type="arabicPeriod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is done step-by-step using 1NF, 2NF, and 3NF to organize database tables properly.</a:t>
            </a:r>
          </a:p>
          <a:p>
            <a:pPr marL="457200" indent="-457200">
              <a:buAutoNum type="arabicPeriod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1NF ensures that all attributes contain atomic (single) values and eliminates repeating or multivalued groups. </a:t>
            </a:r>
          </a:p>
          <a:p>
            <a:pPr marL="457200" indent="-457200">
              <a:buAutoNum type="arabicPeriod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2NF removes partial dependencies, ensuring that non-key attributes depend completely on the primary key. </a:t>
            </a:r>
          </a:p>
          <a:p>
            <a:pPr marL="457200" indent="-457200">
              <a:buAutoNum type="arabicPeriod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3NF removes transitive dependencies, so non-key attributes depend only on the primary key. </a:t>
            </a:r>
          </a:p>
          <a:p>
            <a:pPr marL="457200" indent="-457200">
              <a:buAutoNum type="arabicPeriod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Normalization reduces data redundancy and helps prevent insertion, update, and deletion anomalies. </a:t>
            </a:r>
          </a:p>
          <a:p>
            <a:pPr marL="457200" indent="-457200">
              <a:buAutoNum type="arabicPeriod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Overall, normalization creates a well-structured, consistent, and maintainable database while maintaining relationships through primary and foreign keys.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7294" y="309185"/>
            <a:ext cx="3947051" cy="717048"/>
          </a:xfrm>
          <a:prstGeom prst="rect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ln>
            <a:solidFill>
              <a:srgbClr val="92D050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NORMALIZATION METODS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3205" y="1409700"/>
            <a:ext cx="11505565" cy="98609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Movie Ticket Booking System provides a structured database design for managing customers, movies, shows, theatres, screens, seats, bookings, and payments.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ER model clearly represents the entities, their attributes, and the relationships between the different components of the system.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(PK) uniquely identify each record, while Foreign Keys (FK) establish connections between related tables and maintain data relationships.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tables are created with appropriate attributes, data types, primary keys, and foreign-key constraints, providing a well-organized database structure.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SQL queries allow important information to be retrieved and analyzed, using concepts such as SELECT, WHERE, ORDER BY, JOIN, GROUP BY, aggregate functions, and subqueries.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is performed through 1NF, 2NF, and 3NF to organize the data systematically, reduce redundancy, and improve database consistency.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also helps prevent insertion, update, and deletion anomalies, while maintaining proper relationships between entities through primary and foreign keys.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provides a structured, consistent, and maintainable database that represents real-world relationships such as one customer making many bookings and one theatre containing many screens.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7294" y="309185"/>
            <a:ext cx="3947051" cy="717048"/>
          </a:xfrm>
          <a:prstGeom prst="rect">
            <a:avLst/>
          </a:prstGeom>
          <a:solidFill>
            <a:schemeClr val="accent4">
              <a:lumMod val="75000"/>
            </a:schemeClr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CONCLUSION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39" y="309185"/>
            <a:ext cx="1992712" cy="74951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8517" y="626807"/>
            <a:ext cx="742620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8709" y="3072348"/>
            <a:ext cx="7140288" cy="378565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4000">
                <a:latin typeface="Times New Roman" panose="02020603050405020304"/>
                <a:cs typeface="Times New Roman" panose="02020603050405020304"/>
              </a:rPr>
              <a:t>Presented by :</a:t>
            </a:r>
            <a:b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>
                <a:latin typeface="Times New Roman" panose="02020603050405020304"/>
                <a:cs typeface="Times New Roman" panose="02020603050405020304"/>
              </a:rPr>
              <a:t>25B11CS563 ~ M.Tejaswaoop</a:t>
            </a:r>
            <a:b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>
                <a:latin typeface="Times New Roman" panose="02020603050405020304"/>
                <a:cs typeface="Times New Roman" panose="02020603050405020304"/>
              </a:rPr>
              <a:t>25B11CS166 ~ Ch.Dilip </a:t>
            </a:r>
            <a:b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>
                <a:latin typeface="Times New Roman" panose="02020603050405020304"/>
                <a:cs typeface="Times New Roman" panose="02020603050405020304"/>
              </a:rPr>
              <a:t>25B11CS617 ~ M.Siddharth Raj</a:t>
            </a:r>
            <a:b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>
                <a:latin typeface="Times New Roman" panose="02020603050405020304"/>
                <a:cs typeface="Times New Roman" panose="02020603050405020304"/>
              </a:rPr>
              <a:t>25B11CS614 ~ M.Santosh Naik</a:t>
            </a:r>
            <a:b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97" y="183295"/>
            <a:ext cx="1992712" cy="7495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1483</Words>
  <Application>Microsoft Office PowerPoint</Application>
  <PresentationFormat>Widescreen</PresentationFormat>
  <Paragraphs>153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Times New Roman</vt:lpstr>
      <vt:lpstr>Office Theme</vt:lpstr>
      <vt:lpstr>DATABASE MANAGEMENT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tejaswaroop manepalli</dc:creator>
  <cp:lastModifiedBy>25B11CS166</cp:lastModifiedBy>
  <cp:revision>15</cp:revision>
  <dcterms:created xsi:type="dcterms:W3CDTF">2026-08-13T05:01:00Z</dcterms:created>
  <dcterms:modified xsi:type="dcterms:W3CDTF">2026-10-01T05:43:53Z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ICV" pid="2">
    <vt:lpwstr>81807D4010F042B5B0190C78A5EA57BC_13</vt:lpwstr>
  </property>
  <property fmtid="{D5CDD505-2E9C-101B-9397-08002B2CF9AE}" name="KSOProductBuildVer" pid="3">
    <vt:lpwstr>1033-12.1.0.28485</vt:lpwstr>
  </property>
  <property fmtid="{D5CDD505-2E9C-101B-9397-08002B2CF9AE}" name="NXPowerLiteLastOptimized" pid="4">
    <vt:lpwstr>1712683</vt:lpwstr>
  </property>
  <property fmtid="{D5CDD505-2E9C-101B-9397-08002B2CF9AE}" name="NXPowerLiteSettings" pid="5">
    <vt:lpwstr>F7000400038000</vt:lpwstr>
  </property>
  <property fmtid="{D5CDD505-2E9C-101B-9397-08002B2CF9AE}" name="NXPowerLiteVersion" pid="6">
    <vt:lpwstr>S11.0.1</vt:lpwstr>
  </property>
</Properties>
</file>